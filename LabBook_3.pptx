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89" r:id="rId3"/>
    <p:sldId id="290" r:id="rId4"/>
    <p:sldId id="297" r:id="rId5"/>
    <p:sldId id="298" r:id="rId6"/>
    <p:sldId id="295" r:id="rId7"/>
    <p:sldId id="296" r:id="rId8"/>
    <p:sldId id="299" r:id="rId9"/>
    <p:sldId id="293" r:id="rId10"/>
    <p:sldId id="300" r:id="rId11"/>
    <p:sldId id="301"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5538" autoAdjust="0"/>
    <p:restoredTop sz="95033" autoAdjust="0"/>
  </p:normalViewPr>
  <p:slideViewPr>
    <p:cSldViewPr>
      <p:cViewPr>
        <p:scale>
          <a:sx n="75" d="100"/>
          <a:sy n="75" d="100"/>
        </p:scale>
        <p:origin x="468" y="90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20.png"/><Relationship Id="rId7"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24.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Nadia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718440" y="3962400"/>
            <a:ext cx="5823638"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primer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un MZI </a:t>
            </a:r>
            <a:r>
              <a:rPr lang="en-US" sz="1200" dirty="0" err="1">
                <a:latin typeface="Arial" panose="020B0604020202020204" pitchFamily="34" charset="0"/>
                <a:cs typeface="Arial" panose="020B0604020202020204" pitchFamily="34" charset="0"/>
              </a:rPr>
              <a:t>completamente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balanceado</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ello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mantiene</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máxima</a:t>
            </a:r>
            <a:r>
              <a:rPr lang="en-US" sz="1200" dirty="0">
                <a:latin typeface="Arial" panose="020B0604020202020204" pitchFamily="34" charset="0"/>
                <a:cs typeface="Arial" panose="020B0604020202020204" pitchFamily="34" charset="0"/>
              </a:rPr>
              <a:t> (1)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Puerto BAR y minima (0)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CROSS.  No hay </a:t>
            </a:r>
            <a:r>
              <a:rPr lang="en-US" sz="1200" dirty="0" err="1">
                <a:latin typeface="Arial" panose="020B0604020202020204" pitchFamily="34" charset="0"/>
                <a:cs typeface="Arial" panose="020B0604020202020204" pitchFamily="34" charset="0"/>
              </a:rPr>
              <a:t>interferencias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930DDFDE-D4BB-44A6-9659-4E85986F9C87}"/>
              </a:ext>
            </a:extLst>
          </p:cNvPr>
          <p:cNvPicPr>
            <a:picLocks noChangeAspect="1"/>
          </p:cNvPicPr>
          <p:nvPr/>
        </p:nvPicPr>
        <p:blipFill>
          <a:blip r:embed="rId6"/>
          <a:stretch>
            <a:fillRect/>
          </a:stretch>
        </p:blipFill>
        <p:spPr>
          <a:xfrm>
            <a:off x="1295400" y="3808665"/>
            <a:ext cx="3124200" cy="2507074"/>
          </a:xfrm>
          <a:prstGeom prst="rect">
            <a:avLst/>
          </a:prstGeom>
        </p:spPr>
      </p:pic>
      <p:sp>
        <p:nvSpPr>
          <p:cNvPr id="10" name="Título 1">
            <a:extLst>
              <a:ext uri="{FF2B5EF4-FFF2-40B4-BE49-F238E27FC236}">
                <a16:creationId xmlns:a16="http://schemas.microsoft.com/office/drawing/2014/main" id="{BEC0ECB6-5073-4E2C-9AC6-86DC831FE3FA}"/>
              </a:ext>
            </a:extLst>
          </p:cNvPr>
          <p:cNvSpPr txBox="1">
            <a:spLocks/>
          </p:cNvSpPr>
          <p:nvPr/>
        </p:nvSpPr>
        <p:spPr>
          <a:xfrm>
            <a:off x="636586" y="342386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1. </a:t>
            </a:r>
            <a:r>
              <a:rPr lang="es-ES" kern="0" dirty="0" err="1"/>
              <a:t>Balanced</a:t>
            </a:r>
            <a:r>
              <a:rPr lang="es-ES" kern="0" dirty="0"/>
              <a:t> </a:t>
            </a:r>
            <a:r>
              <a:rPr lang="es-ES" kern="0" dirty="0" err="1"/>
              <a:t>configuration</a:t>
            </a:r>
            <a:r>
              <a:rPr lang="es-ES" kern="0" dirty="0"/>
              <a:t>: </a:t>
            </a: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8AD5E1-0F25-4EFE-94F9-DFCD598C324C}"/>
              </a:ext>
            </a:extLst>
          </p:cNvPr>
          <p:cNvSpPr>
            <a:spLocks noGrp="1"/>
          </p:cNvSpPr>
          <p:nvPr>
            <p:ph type="title"/>
          </p:nvPr>
        </p:nvSpPr>
        <p:spPr/>
        <p:txBody>
          <a:bodyPr/>
          <a:lstStyle/>
          <a:p>
            <a:r>
              <a:rPr lang="es-ES" dirty="0"/>
              <a:t>2. </a:t>
            </a:r>
            <a:r>
              <a:rPr lang="es-ES" dirty="0" err="1"/>
              <a:t>Unbalanced</a:t>
            </a:r>
            <a:r>
              <a:rPr lang="es-ES" dirty="0"/>
              <a:t> </a:t>
            </a:r>
            <a:r>
              <a:rPr lang="es-ES" dirty="0" err="1"/>
              <a:t>configurations</a:t>
            </a:r>
            <a:r>
              <a:rPr lang="es-ES" dirty="0"/>
              <a:t>: </a:t>
            </a:r>
          </a:p>
        </p:txBody>
      </p:sp>
      <p:sp>
        <p:nvSpPr>
          <p:cNvPr id="4" name="Marcador de pie de página 3">
            <a:extLst>
              <a:ext uri="{FF2B5EF4-FFF2-40B4-BE49-F238E27FC236}">
                <a16:creationId xmlns:a16="http://schemas.microsoft.com/office/drawing/2014/main" id="{1FF19CD4-1B0E-4AAF-BD30-A588E1F94978}"/>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8E2570A-1347-4545-9540-B9B10CC337BE}"/>
              </a:ext>
            </a:extLst>
          </p:cNvPr>
          <p:cNvSpPr>
            <a:spLocks noGrp="1"/>
          </p:cNvSpPr>
          <p:nvPr>
            <p:ph type="sldNum" sz="quarter" idx="7"/>
          </p:nvPr>
        </p:nvSpPr>
        <p:spPr>
          <a:xfrm>
            <a:off x="9220200" y="6343696"/>
            <a:ext cx="2804160" cy="342900"/>
          </a:xfrm>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681895D7-2447-4AD1-BB1E-A5C3546DF407}"/>
              </a:ext>
            </a:extLst>
          </p:cNvPr>
          <p:cNvPicPr>
            <a:picLocks noChangeAspect="1"/>
          </p:cNvPicPr>
          <p:nvPr/>
        </p:nvPicPr>
        <p:blipFill>
          <a:blip r:embed="rId2"/>
          <a:stretch>
            <a:fillRect/>
          </a:stretch>
        </p:blipFill>
        <p:spPr>
          <a:xfrm>
            <a:off x="1828800" y="1049610"/>
            <a:ext cx="2743200" cy="2166938"/>
          </a:xfrm>
          <a:prstGeom prst="rect">
            <a:avLst/>
          </a:prstGeom>
        </p:spPr>
      </p:pic>
      <p:sp>
        <p:nvSpPr>
          <p:cNvPr id="8" name="CuadroTexto 7">
            <a:extLst>
              <a:ext uri="{FF2B5EF4-FFF2-40B4-BE49-F238E27FC236}">
                <a16:creationId xmlns:a16="http://schemas.microsoft.com/office/drawing/2014/main" id="{30965779-8202-4E20-9CCE-165839CA5027}"/>
              </a:ext>
            </a:extLst>
          </p:cNvPr>
          <p:cNvSpPr txBox="1"/>
          <p:nvPr/>
        </p:nvSpPr>
        <p:spPr>
          <a:xfrm>
            <a:off x="1187374" y="683687"/>
            <a:ext cx="2089226" cy="369332"/>
          </a:xfrm>
          <a:prstGeom prst="rect">
            <a:avLst/>
          </a:prstGeom>
          <a:noFill/>
        </p:spPr>
        <p:txBody>
          <a:bodyPr wrap="none" rtlCol="0">
            <a:spAutoFit/>
          </a:bodyPr>
          <a:lstStyle/>
          <a:p>
            <a:r>
              <a:rPr lang="es-ES" dirty="0"/>
              <a:t>2.2 </a:t>
            </a:r>
            <a:r>
              <a:rPr lang="es-ES" dirty="0" err="1"/>
              <a:t>Phase</a:t>
            </a:r>
            <a:r>
              <a:rPr lang="es-ES" dirty="0"/>
              <a:t> </a:t>
            </a:r>
            <a:r>
              <a:rPr lang="es-ES" dirty="0" err="1"/>
              <a:t>difference</a:t>
            </a:r>
            <a:endParaRPr lang="es-ES" dirty="0"/>
          </a:p>
        </p:txBody>
      </p:sp>
      <p:sp>
        <p:nvSpPr>
          <p:cNvPr id="9" name="CuadroTexto 8">
            <a:extLst>
              <a:ext uri="{FF2B5EF4-FFF2-40B4-BE49-F238E27FC236}">
                <a16:creationId xmlns:a16="http://schemas.microsoft.com/office/drawing/2014/main" id="{2301A52B-2B4D-4D61-84CC-4119C75189E9}"/>
              </a:ext>
            </a:extLst>
          </p:cNvPr>
          <p:cNvSpPr txBox="1"/>
          <p:nvPr/>
        </p:nvSpPr>
        <p:spPr>
          <a:xfrm>
            <a:off x="5486400" y="1295400"/>
            <a:ext cx="5823638"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Al </a:t>
            </a:r>
            <a:r>
              <a:rPr lang="en-US" sz="1200" dirty="0" err="1">
                <a:latin typeface="Arial" panose="020B0604020202020204" pitchFamily="34" charset="0"/>
                <a:cs typeface="Arial" panose="020B0604020202020204" pitchFamily="34" charset="0"/>
              </a:rPr>
              <a:t>introducir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desequilibrio</a:t>
            </a:r>
            <a:r>
              <a:rPr lang="en-US" sz="1200" dirty="0">
                <a:latin typeface="Arial" panose="020B0604020202020204" pitchFamily="34" charset="0"/>
                <a:cs typeface="Arial" panose="020B0604020202020204" pitchFamily="34" charset="0"/>
              </a:rPr>
              <a:t> entre los </a:t>
            </a:r>
            <a:r>
              <a:rPr lang="en-US" sz="1200" dirty="0" err="1">
                <a:latin typeface="Arial" panose="020B0604020202020204" pitchFamily="34" charset="0"/>
                <a:cs typeface="Arial" panose="020B0604020202020204" pitchFamily="34" charset="0"/>
              </a:rPr>
              <a:t>brazos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modificando</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materiales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por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Puerto BAR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alrededor</a:t>
            </a:r>
            <a:r>
              <a:rPr lang="en-US" sz="1200" dirty="0">
                <a:latin typeface="Arial" panose="020B0604020202020204" pitchFamily="34" charset="0"/>
                <a:cs typeface="Arial" panose="020B0604020202020204" pitchFamily="34" charset="0"/>
              </a:rPr>
              <a:t> de 0.6 y por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Puerto CROSS </a:t>
            </a:r>
            <a:r>
              <a:rPr lang="en-US" sz="1200" dirty="0" err="1">
                <a:latin typeface="Arial" panose="020B0604020202020204" pitchFamily="34" charset="0"/>
                <a:cs typeface="Arial" panose="020B0604020202020204" pitchFamily="34" charset="0"/>
              </a:rPr>
              <a:t>alrededor</a:t>
            </a:r>
            <a:r>
              <a:rPr lang="en-US" sz="1200" dirty="0">
                <a:latin typeface="Arial" panose="020B0604020202020204" pitchFamily="34" charset="0"/>
                <a:cs typeface="Arial" panose="020B0604020202020204" pitchFamily="34" charset="0"/>
              </a:rPr>
              <a:t> de 0.4. Sin embargo no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oscilaciones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completas</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haber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introducido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desfase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pequeño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FSR ser mayor al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longitudes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estamos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viendo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10" name="CuadroTexto 9">
            <a:extLst>
              <a:ext uri="{FF2B5EF4-FFF2-40B4-BE49-F238E27FC236}">
                <a16:creationId xmlns:a16="http://schemas.microsoft.com/office/drawing/2014/main" id="{0FAC6029-1577-41C3-BBFA-14C21952442A}"/>
              </a:ext>
            </a:extLst>
          </p:cNvPr>
          <p:cNvSpPr txBox="1"/>
          <p:nvPr/>
        </p:nvSpPr>
        <p:spPr>
          <a:xfrm>
            <a:off x="1228432" y="3570372"/>
            <a:ext cx="2129622" cy="369332"/>
          </a:xfrm>
          <a:prstGeom prst="rect">
            <a:avLst/>
          </a:prstGeom>
          <a:noFill/>
        </p:spPr>
        <p:txBody>
          <a:bodyPr wrap="none" rtlCol="0">
            <a:spAutoFit/>
          </a:bodyPr>
          <a:lstStyle/>
          <a:p>
            <a:r>
              <a:rPr lang="es-ES" dirty="0"/>
              <a:t>2.3. </a:t>
            </a:r>
            <a:r>
              <a:rPr lang="es-ES" dirty="0" err="1"/>
              <a:t>Delay</a:t>
            </a:r>
            <a:r>
              <a:rPr lang="es-ES" dirty="0"/>
              <a:t> </a:t>
            </a:r>
            <a:r>
              <a:rPr lang="es-ES" dirty="0" err="1"/>
              <a:t>imbalance</a:t>
            </a:r>
            <a:endParaRPr lang="es-ES" dirty="0"/>
          </a:p>
        </p:txBody>
      </p:sp>
      <p:pic>
        <p:nvPicPr>
          <p:cNvPr id="12" name="Imagen 11">
            <a:extLst>
              <a:ext uri="{FF2B5EF4-FFF2-40B4-BE49-F238E27FC236}">
                <a16:creationId xmlns:a16="http://schemas.microsoft.com/office/drawing/2014/main" id="{2FEF3F82-C8DE-460D-90BA-DDABD3421B82}"/>
              </a:ext>
            </a:extLst>
          </p:cNvPr>
          <p:cNvPicPr>
            <a:picLocks noChangeAspect="1"/>
          </p:cNvPicPr>
          <p:nvPr/>
        </p:nvPicPr>
        <p:blipFill>
          <a:blip r:embed="rId3"/>
          <a:stretch>
            <a:fillRect/>
          </a:stretch>
        </p:blipFill>
        <p:spPr>
          <a:xfrm>
            <a:off x="1828800" y="3958918"/>
            <a:ext cx="2971800" cy="2384778"/>
          </a:xfrm>
          <a:prstGeom prst="rect">
            <a:avLst/>
          </a:prstGeom>
        </p:spPr>
      </p:pic>
      <p:sp>
        <p:nvSpPr>
          <p:cNvPr id="13" name="CuadroTexto 12">
            <a:extLst>
              <a:ext uri="{FF2B5EF4-FFF2-40B4-BE49-F238E27FC236}">
                <a16:creationId xmlns:a16="http://schemas.microsoft.com/office/drawing/2014/main" id="{E2E8C070-9AF3-400F-BEA5-FF0A837A9043}"/>
              </a:ext>
            </a:extLst>
          </p:cNvPr>
          <p:cNvSpPr txBox="1"/>
          <p:nvPr/>
        </p:nvSpPr>
        <p:spPr>
          <a:xfrm>
            <a:off x="5486400" y="4148021"/>
            <a:ext cx="5823638" cy="1200329"/>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Con una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caminos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apreciar</a:t>
            </a:r>
            <a:r>
              <a:rPr lang="en-US" sz="1200" dirty="0">
                <a:latin typeface="Arial" panose="020B0604020202020204" pitchFamily="34" charset="0"/>
                <a:cs typeface="Arial" panose="020B0604020202020204" pitchFamily="34" charset="0"/>
              </a:rPr>
              <a:t> bien ese </a:t>
            </a:r>
            <a:r>
              <a:rPr lang="en-US" sz="1200" dirty="0" err="1">
                <a:latin typeface="Arial" panose="020B0604020202020204" pitchFamily="34" charset="0"/>
                <a:cs typeface="Arial" panose="020B0604020202020204" pitchFamily="34" charset="0"/>
              </a:rPr>
              <a:t>desfase</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brazos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viendo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interferencias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constructivas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máximo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1) y </a:t>
            </a:r>
            <a:r>
              <a:rPr lang="en-US" sz="1200" dirty="0" err="1">
                <a:latin typeface="Arial" panose="020B0604020202020204" pitchFamily="34" charset="0"/>
                <a:cs typeface="Arial" panose="020B0604020202020204" pitchFamily="34" charset="0"/>
              </a:rPr>
              <a:t>destructivas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mínimo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0)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forma de </a:t>
            </a:r>
            <a:r>
              <a:rPr lang="en-US" sz="1200" dirty="0" err="1">
                <a:latin typeface="Arial" panose="020B0604020202020204" pitchFamily="34" charset="0"/>
                <a:cs typeface="Arial" panose="020B0604020202020204" pitchFamily="34" charset="0"/>
              </a:rPr>
              <a:t>sinusoides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sí</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podríamos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determinar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FSR a </a:t>
            </a:r>
            <a:r>
              <a:rPr lang="en-US" sz="1200" dirty="0" err="1">
                <a:latin typeface="Arial" panose="020B0604020202020204" pitchFamily="34" charset="0"/>
                <a:cs typeface="Arial" panose="020B0604020202020204" pitchFamily="34" charset="0"/>
              </a:rPr>
              <a:t>través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alrededor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unos</a:t>
            </a:r>
            <a:r>
              <a:rPr lang="en-US" sz="1200" dirty="0">
                <a:latin typeface="Arial" panose="020B0604020202020204" pitchFamily="34" charset="0"/>
                <a:cs typeface="Arial" panose="020B0604020202020204" pitchFamily="34" charset="0"/>
              </a:rPr>
              <a:t> 28 nm.</a:t>
            </a: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498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Marcador de texto 2">
                <a:extLst>
                  <a:ext uri="{FF2B5EF4-FFF2-40B4-BE49-F238E27FC236}">
                    <a16:creationId xmlns:a16="http://schemas.microsoft.com/office/drawing/2014/main" id="{E2FBD92A-428D-44A9-B4D8-2CCBC8BEC787}"/>
                  </a:ext>
                </a:extLst>
              </p:cNvPr>
              <p:cNvSpPr>
                <a:spLocks noGrp="1"/>
              </p:cNvSpPr>
              <p:nvPr>
                <p:ph type="body" idx="1"/>
              </p:nvPr>
            </p:nvSpPr>
            <p:spPr>
              <a:xfrm>
                <a:off x="1219200" y="729939"/>
                <a:ext cx="1066800" cy="276999"/>
              </a:xfrm>
            </p:spPr>
            <p:txBody>
              <a:bodyPr/>
              <a:lstStyle/>
              <a:p>
                <a:pPr/>
                <a14:m>
                  <m:oMathPara xmlns:m="http://schemas.openxmlformats.org/officeDocument/2006/math">
                    <m:oMathParaPr>
                      <m:jc m:val="centerGroup"/>
                    </m:oMathParaPr>
                    <m:oMath xmlns:m="http://schemas.openxmlformats.org/officeDocument/2006/math">
                      <m:r>
                        <m:rPr>
                          <m:sty m:val="p"/>
                        </m:rPr>
                        <a:rPr lang="es-ES" sz="1800" b="0" i="1" smtClean="0">
                          <a:latin typeface="Cambria Math" panose="02040503050406030204" pitchFamily="18" charset="0"/>
                        </a:rPr>
                        <m:t>α</m:t>
                      </m:r>
                      <m:r>
                        <a:rPr lang="es-ES" sz="1800" b="0" i="1" smtClean="0">
                          <a:latin typeface="Cambria Math" panose="02040503050406030204" pitchFamily="18" charset="0"/>
                        </a:rPr>
                        <m:t>=0.7</m:t>
                      </m:r>
                    </m:oMath>
                  </m:oMathPara>
                </a14:m>
                <a:endParaRPr lang="es-ES" dirty="0"/>
              </a:p>
            </p:txBody>
          </p:sp>
        </mc:Choice>
        <mc:Fallback>
          <p:sp>
            <p:nvSpPr>
              <p:cNvPr id="3" name="Marcador de texto 2">
                <a:extLst>
                  <a:ext uri="{FF2B5EF4-FFF2-40B4-BE49-F238E27FC236}">
                    <a16:creationId xmlns:a16="http://schemas.microsoft.com/office/drawing/2014/main" id="{E2FBD92A-428D-44A9-B4D8-2CCBC8BEC787}"/>
                  </a:ext>
                </a:extLst>
              </p:cNvPr>
              <p:cNvSpPr>
                <a:spLocks noGrp="1" noRot="1" noChangeAspect="1" noMove="1" noResize="1" noEditPoints="1" noAdjustHandles="1" noChangeArrowheads="1" noChangeShapeType="1" noTextEdit="1"/>
              </p:cNvSpPr>
              <p:nvPr>
                <p:ph type="body" idx="1"/>
              </p:nvPr>
            </p:nvSpPr>
            <p:spPr>
              <a:xfrm>
                <a:off x="1219200" y="729939"/>
                <a:ext cx="1066800" cy="276999"/>
              </a:xfrm>
              <a:blipFill>
                <a:blip r:embed="rId2"/>
                <a:stretch>
                  <a:fillRect b="-6667"/>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18DEB5E0-EC07-4509-A203-60E8690966A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37DA95-1EB3-44E7-8F2B-FB1C0DCB6446}"/>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35F24F7B-8A42-4DBC-9AA0-65607CAA1546}"/>
              </a:ext>
            </a:extLst>
          </p:cNvPr>
          <p:cNvPicPr>
            <a:picLocks noChangeAspect="1"/>
          </p:cNvPicPr>
          <p:nvPr/>
        </p:nvPicPr>
        <p:blipFill>
          <a:blip r:embed="rId3"/>
          <a:stretch>
            <a:fillRect/>
          </a:stretch>
        </p:blipFill>
        <p:spPr>
          <a:xfrm>
            <a:off x="958162" y="1300903"/>
            <a:ext cx="4071038" cy="3215837"/>
          </a:xfrm>
          <a:prstGeom prst="rect">
            <a:avLst/>
          </a:prstGeom>
        </p:spPr>
      </p:pic>
      <p:sp>
        <p:nvSpPr>
          <p:cNvPr id="8" name="CuadroTexto 7">
            <a:extLst>
              <a:ext uri="{FF2B5EF4-FFF2-40B4-BE49-F238E27FC236}">
                <a16:creationId xmlns:a16="http://schemas.microsoft.com/office/drawing/2014/main" id="{A3016BFD-32A5-437E-A3F7-5663748A47D3}"/>
              </a:ext>
            </a:extLst>
          </p:cNvPr>
          <p:cNvSpPr txBox="1"/>
          <p:nvPr/>
        </p:nvSpPr>
        <p:spPr>
          <a:xfrm>
            <a:off x="1339162" y="4761131"/>
            <a:ext cx="3690038" cy="830997"/>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Con un valor de 0.7 de alpha, </a:t>
            </a:r>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los </a:t>
            </a:r>
            <a:r>
              <a:rPr lang="en-US" sz="1200" dirty="0" err="1">
                <a:latin typeface="Arial" panose="020B0604020202020204" pitchFamily="34" charset="0"/>
                <a:cs typeface="Arial" panose="020B0604020202020204" pitchFamily="34" charset="0"/>
              </a:rPr>
              <a:t>máximos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acotados</a:t>
            </a:r>
            <a:r>
              <a:rPr lang="en-US" sz="1200" dirty="0">
                <a:latin typeface="Arial" panose="020B0604020202020204" pitchFamily="34" charset="0"/>
                <a:cs typeface="Arial" panose="020B0604020202020204" pitchFamily="34" charset="0"/>
              </a:rPr>
              <a:t> a un valor de 0.3,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se debe a que se </a:t>
            </a:r>
            <a:r>
              <a:rPr lang="en-US" sz="1200" dirty="0" err="1">
                <a:latin typeface="Arial" panose="020B0604020202020204" pitchFamily="34" charset="0"/>
                <a:cs typeface="Arial" panose="020B0604020202020204" pitchFamily="34" charset="0"/>
              </a:rPr>
              <a:t>absorbe</a:t>
            </a:r>
            <a:r>
              <a:rPr lang="en-US" sz="1200" dirty="0">
                <a:latin typeface="Arial" panose="020B0604020202020204" pitchFamily="34" charset="0"/>
                <a:cs typeface="Arial" panose="020B0604020202020204" pitchFamily="34" charset="0"/>
              </a:rPr>
              <a:t> o </a:t>
            </a:r>
            <a:r>
              <a:rPr lang="en-US" sz="1200" dirty="0" err="1">
                <a:latin typeface="Arial" panose="020B0604020202020204" pitchFamily="34" charset="0"/>
                <a:cs typeface="Arial" panose="020B0604020202020204" pitchFamily="34" charset="0"/>
              </a:rPr>
              <a:t>dispersa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parte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El FSR se </a:t>
            </a:r>
            <a:r>
              <a:rPr lang="en-US" sz="1200" dirty="0" err="1">
                <a:latin typeface="Arial" panose="020B0604020202020204" pitchFamily="34" charset="0"/>
                <a:cs typeface="Arial" panose="020B0604020202020204" pitchFamily="34" charset="0"/>
              </a:rPr>
              <a:t>mantiene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28 nm.</a:t>
            </a:r>
          </a:p>
        </p:txBody>
      </p:sp>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F2403C49-8B32-4433-92CE-37E15DA15B60}"/>
                  </a:ext>
                </a:extLst>
              </p:cNvPr>
              <p:cNvSpPr txBox="1"/>
              <p:nvPr/>
            </p:nvSpPr>
            <p:spPr>
              <a:xfrm>
                <a:off x="6781800" y="681672"/>
                <a:ext cx="97472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ES" sz="1800" i="1" smtClean="0">
                          <a:latin typeface="Cambria Math" panose="02040503050406030204" pitchFamily="18" charset="0"/>
                        </a:rPr>
                        <m:t>γ</m:t>
                      </m:r>
                      <m:r>
                        <a:rPr lang="es-ES" sz="1800" b="0" i="1" smtClean="0">
                          <a:latin typeface="Cambria Math" panose="02040503050406030204" pitchFamily="18" charset="0"/>
                        </a:rPr>
                        <m:t>=</m:t>
                      </m:r>
                      <m:r>
                        <a:rPr lang="es-ES" sz="1800" i="1">
                          <a:latin typeface="Cambria Math" panose="02040503050406030204" pitchFamily="18" charset="0"/>
                          <a:ea typeface="Cambria Math" panose="02040503050406030204" pitchFamily="18" charset="0"/>
                        </a:rPr>
                        <m:t>0</m:t>
                      </m:r>
                      <m:r>
                        <a:rPr lang="es-ES" sz="1800" b="0" i="1" smtClean="0">
                          <a:latin typeface="Cambria Math" panose="02040503050406030204" pitchFamily="18" charset="0"/>
                          <a:ea typeface="Cambria Math" panose="02040503050406030204" pitchFamily="18" charset="0"/>
                        </a:rPr>
                        <m:t>.4</m:t>
                      </m:r>
                    </m:oMath>
                  </m:oMathPara>
                </a14:m>
                <a:endParaRPr lang="es-ES" dirty="0"/>
              </a:p>
            </p:txBody>
          </p:sp>
        </mc:Choice>
        <mc:Fallback>
          <p:sp>
            <p:nvSpPr>
              <p:cNvPr id="10" name="CuadroTexto 9">
                <a:extLst>
                  <a:ext uri="{FF2B5EF4-FFF2-40B4-BE49-F238E27FC236}">
                    <a16:creationId xmlns:a16="http://schemas.microsoft.com/office/drawing/2014/main" id="{F2403C49-8B32-4433-92CE-37E15DA15B60}"/>
                  </a:ext>
                </a:extLst>
              </p:cNvPr>
              <p:cNvSpPr txBox="1">
                <a:spLocks noRot="1" noChangeAspect="1" noMove="1" noResize="1" noEditPoints="1" noAdjustHandles="1" noChangeArrowheads="1" noChangeShapeType="1" noTextEdit="1"/>
              </p:cNvSpPr>
              <p:nvPr/>
            </p:nvSpPr>
            <p:spPr>
              <a:xfrm>
                <a:off x="6781800" y="681672"/>
                <a:ext cx="974725" cy="369332"/>
              </a:xfrm>
              <a:prstGeom prst="rect">
                <a:avLst/>
              </a:prstGeom>
              <a:blipFill>
                <a:blip r:embed="rId4"/>
                <a:stretch>
                  <a:fillRect b="-5000"/>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C6D71D96-52F7-49DE-8681-E3C528396B8B}"/>
              </a:ext>
            </a:extLst>
          </p:cNvPr>
          <p:cNvPicPr>
            <a:picLocks noChangeAspect="1"/>
          </p:cNvPicPr>
          <p:nvPr/>
        </p:nvPicPr>
        <p:blipFill>
          <a:blip r:embed="rId5"/>
          <a:stretch>
            <a:fillRect/>
          </a:stretch>
        </p:blipFill>
        <p:spPr>
          <a:xfrm>
            <a:off x="6439702" y="1249858"/>
            <a:ext cx="4007429" cy="3215837"/>
          </a:xfrm>
          <a:prstGeom prst="rect">
            <a:avLst/>
          </a:prstGeom>
        </p:spPr>
      </p:pic>
      <p:sp>
        <p:nvSpPr>
          <p:cNvPr id="13" name="CuadroTexto 12">
            <a:extLst>
              <a:ext uri="{FF2B5EF4-FFF2-40B4-BE49-F238E27FC236}">
                <a16:creationId xmlns:a16="http://schemas.microsoft.com/office/drawing/2014/main" id="{90B18193-D0F9-4387-B789-E09B38E10542}"/>
              </a:ext>
            </a:extLst>
          </p:cNvPr>
          <p:cNvSpPr txBox="1"/>
          <p:nvPr/>
        </p:nvSpPr>
        <p:spPr>
          <a:xfrm>
            <a:off x="6871282" y="4734362"/>
            <a:ext cx="3804338" cy="64633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con un valor de 0.4 de gamma, los </a:t>
            </a:r>
            <a:r>
              <a:rPr lang="en-US" sz="1200" dirty="0" err="1">
                <a:latin typeface="Arial" panose="020B0604020202020204" pitchFamily="34" charset="0"/>
                <a:cs typeface="Arial" panose="020B0604020202020204" pitchFamily="34" charset="0"/>
              </a:rPr>
              <a:t>máximos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limitan</a:t>
            </a:r>
            <a:r>
              <a:rPr lang="en-US" sz="1200" dirty="0">
                <a:latin typeface="Arial" panose="020B0604020202020204" pitchFamily="34" charset="0"/>
                <a:cs typeface="Arial" panose="020B0604020202020204" pitchFamily="34" charset="0"/>
              </a:rPr>
              <a:t> a un valor 0.6,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similar al del factor de </a:t>
            </a:r>
            <a:r>
              <a:rPr lang="en-US" sz="1200" dirty="0" err="1">
                <a:latin typeface="Arial" panose="020B0604020202020204" pitchFamily="34" charset="0"/>
                <a:cs typeface="Arial" panose="020B0604020202020204" pitchFamily="34" charset="0"/>
              </a:rPr>
              <a:t>atenuación</a:t>
            </a:r>
            <a:r>
              <a:rPr lang="en-US" sz="1200" dirty="0">
                <a:latin typeface="Arial" panose="020B0604020202020204" pitchFamily="34" charset="0"/>
                <a:cs typeface="Arial" panose="020B0604020202020204" pitchFamily="34" charset="0"/>
              </a:rPr>
              <a:t> alfa.  </a:t>
            </a:r>
          </a:p>
        </p:txBody>
      </p:sp>
    </p:spTree>
    <p:extLst>
      <p:ext uri="{BB962C8B-B14F-4D97-AF65-F5344CB8AC3E}">
        <p14:creationId xmlns:p14="http://schemas.microsoft.com/office/powerpoint/2010/main" val="3669302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6</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58505" y="129453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58505" y="1294534"/>
                <a:ext cx="11048999" cy="4958137"/>
              </a:xfrm>
              <a:prstGeom prst="rect">
                <a:avLst/>
              </a:prstGeom>
              <a:blipFill>
                <a:blip r:embed="rId6"/>
                <a:stretch>
                  <a:fillRect l="-552" t="-614"/>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4598170" y="3068948"/>
            <a:ext cx="6856411" cy="2677656"/>
          </a:xfrm>
          <a:prstGeom prst="rect">
            <a:avLst/>
          </a:prstGeom>
          <a:solidFill>
            <a:schemeClr val="tx1">
              <a:lumMod val="65000"/>
              <a:lumOff val="3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r>
              <a:rPr lang="fr-FR" sz="1200" b="0" dirty="0" err="1">
                <a:solidFill>
                  <a:srgbClr val="9CDCFE"/>
                </a:solidFill>
                <a:effectLst/>
                <a:latin typeface="Consolas" panose="020B0609020204030204" pitchFamily="49" charset="0"/>
              </a:rPr>
              <a:t>neffb</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21</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3</a:t>
            </a:r>
            <a:r>
              <a:rPr lang="fr-FR" sz="1200" b="0" dirty="0">
                <a:solidFill>
                  <a:srgbClr val="CCCCCC"/>
                </a:solidFill>
                <a:effectLst/>
                <a:latin typeface="Consolas" panose="020B0609020204030204" pitchFamily="49" charset="0"/>
              </a:rPr>
              <a:t>]</a:t>
            </a:r>
          </a:p>
          <a:p>
            <a:r>
              <a:rPr lang="fr-FR" sz="1200" b="0" dirty="0">
                <a:solidFill>
                  <a:srgbClr val="9CDCFE"/>
                </a:solidFill>
                <a:effectLst/>
                <a:latin typeface="Consolas" panose="020B0609020204030204" pitchFamily="49" charset="0"/>
              </a:rPr>
              <a:t>neff0</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22</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3</a:t>
            </a:r>
            <a:r>
              <a:rPr lang="fr-FR" sz="1200" b="0" dirty="0">
                <a:solidFill>
                  <a:srgbClr val="CCCCCC"/>
                </a:solidFill>
                <a:effectLst/>
                <a:latin typeface="Consolas" panose="020B0609020204030204" pitchFamily="49" charset="0"/>
              </a:rPr>
              <a:t>]</a:t>
            </a:r>
          </a:p>
          <a:p>
            <a:r>
              <a:rPr lang="fr-FR" sz="1200" b="0" dirty="0" err="1">
                <a:solidFill>
                  <a:srgbClr val="9CDCFE"/>
                </a:solidFill>
                <a:effectLst/>
                <a:latin typeface="Consolas" panose="020B0609020204030204" pitchFamily="49" charset="0"/>
              </a:rPr>
              <a:t>neffa</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23</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3</a:t>
            </a:r>
            <a:r>
              <a:rPr lang="fr-FR" sz="1200" b="0" dirty="0">
                <a:solidFill>
                  <a:srgbClr val="CCCCCC"/>
                </a:solidFill>
                <a:effectLst/>
                <a:latin typeface="Consolas" panose="020B0609020204030204" pitchFamily="49" charset="0"/>
              </a:rPr>
              <a:t>]</a:t>
            </a:r>
          </a:p>
          <a:p>
            <a:br>
              <a:rPr lang="fr-FR" sz="1200" b="0" dirty="0">
                <a:solidFill>
                  <a:srgbClr val="CCCCCC"/>
                </a:solidFill>
                <a:effectLst/>
                <a:latin typeface="Consolas" panose="020B0609020204030204" pitchFamily="49" charset="0"/>
              </a:rPr>
            </a:br>
            <a:r>
              <a:rPr lang="fr-FR" sz="1200" b="0" dirty="0">
                <a:solidFill>
                  <a:srgbClr val="9CDCFE"/>
                </a:solidFill>
                <a:effectLst/>
                <a:latin typeface="Consolas" panose="020B0609020204030204" pitchFamily="49" charset="0"/>
              </a:rPr>
              <a:t>lb</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21</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0</a:t>
            </a:r>
            <a:r>
              <a:rPr lang="fr-FR" sz="1200" b="0" dirty="0">
                <a:solidFill>
                  <a:srgbClr val="CCCCCC"/>
                </a:solidFill>
                <a:effectLst/>
                <a:latin typeface="Consolas" panose="020B0609020204030204" pitchFamily="49" charset="0"/>
              </a:rPr>
              <a:t>]</a:t>
            </a:r>
          </a:p>
          <a:p>
            <a:r>
              <a:rPr lang="fr-FR" sz="1200" b="0" dirty="0">
                <a:solidFill>
                  <a:srgbClr val="9CDCFE"/>
                </a:solidFill>
                <a:effectLst/>
                <a:latin typeface="Consolas" panose="020B0609020204030204" pitchFamily="49" charset="0"/>
              </a:rPr>
              <a:t>l0</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22</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0</a:t>
            </a:r>
            <a:r>
              <a:rPr lang="fr-FR" sz="1200" b="0" dirty="0">
                <a:solidFill>
                  <a:srgbClr val="CCCCCC"/>
                </a:solidFill>
                <a:effectLst/>
                <a:latin typeface="Consolas" panose="020B0609020204030204" pitchFamily="49" charset="0"/>
              </a:rPr>
              <a:t>]</a:t>
            </a:r>
          </a:p>
          <a:p>
            <a:r>
              <a:rPr lang="fr-FR" sz="1200" b="0" dirty="0">
                <a:solidFill>
                  <a:srgbClr val="9CDCFE"/>
                </a:solidFill>
                <a:effectLst/>
                <a:latin typeface="Consolas" panose="020B0609020204030204" pitchFamily="49" charset="0"/>
              </a:rPr>
              <a:t>la</a:t>
            </a:r>
            <a:r>
              <a:rPr lang="fr-FR" sz="1200" b="0" dirty="0">
                <a:solidFill>
                  <a:srgbClr val="D4D4D4"/>
                </a:solidFill>
                <a:effectLst/>
                <a:latin typeface="Consolas" panose="020B0609020204030204" pitchFamily="49" charset="0"/>
              </a:rPr>
              <a:t>=</a:t>
            </a:r>
            <a:r>
              <a:rPr lang="fr-FR" sz="1200" b="0" dirty="0">
                <a:solidFill>
                  <a:srgbClr val="CCCCCC"/>
                </a:solidFill>
                <a:effectLst/>
                <a:latin typeface="Consolas" panose="020B0609020204030204" pitchFamily="49" charset="0"/>
              </a:rPr>
              <a:t> </a:t>
            </a:r>
            <a:r>
              <a:rPr lang="fr-FR" sz="1200" b="0" dirty="0">
                <a:solidFill>
                  <a:srgbClr val="4FC1FF"/>
                </a:solidFill>
                <a:effectLst/>
                <a:latin typeface="Consolas" panose="020B0609020204030204" pitchFamily="49" charset="0"/>
              </a:rPr>
              <a:t>SOI</a:t>
            </a:r>
            <a:r>
              <a:rPr lang="fr-FR" sz="1200" b="0" dirty="0">
                <a:solidFill>
                  <a:srgbClr val="CCCCCC"/>
                </a:solidFill>
                <a:effectLst/>
                <a:latin typeface="Consolas" panose="020B0609020204030204" pitchFamily="49" charset="0"/>
              </a:rPr>
              <a:t>[</a:t>
            </a:r>
            <a:r>
              <a:rPr lang="fr-FR" sz="1200" b="0" dirty="0">
                <a:solidFill>
                  <a:srgbClr val="B5CEA8"/>
                </a:solidFill>
                <a:effectLst/>
                <a:latin typeface="Consolas" panose="020B0609020204030204" pitchFamily="49" charset="0"/>
              </a:rPr>
              <a:t>23</a:t>
            </a:r>
            <a:r>
              <a:rPr lang="fr-FR" sz="1200" b="0" dirty="0">
                <a:solidFill>
                  <a:srgbClr val="CCCCCC"/>
                </a:solidFill>
                <a:effectLst/>
                <a:latin typeface="Consolas" panose="020B0609020204030204" pitchFamily="49" charset="0"/>
              </a:rPr>
              <a:t>, </a:t>
            </a:r>
            <a:r>
              <a:rPr lang="fr-FR" sz="1200" b="0" dirty="0">
                <a:solidFill>
                  <a:srgbClr val="B5CEA8"/>
                </a:solidFill>
                <a:effectLst/>
                <a:latin typeface="Consolas" panose="020B0609020204030204" pitchFamily="49" charset="0"/>
              </a:rPr>
              <a:t>0</a:t>
            </a:r>
            <a:r>
              <a:rPr lang="fr-FR" sz="1200" b="0" dirty="0">
                <a:solidFill>
                  <a:srgbClr val="CCCCCC"/>
                </a:solidFill>
                <a:effectLst/>
                <a:latin typeface="Consolas" panose="020B0609020204030204" pitchFamily="49" charset="0"/>
              </a:rPr>
              <a:t>]</a:t>
            </a:r>
          </a:p>
          <a:p>
            <a:endParaRPr lang="fr-FR" sz="1200" b="0" dirty="0">
              <a:solidFill>
                <a:srgbClr val="CCCCCC"/>
              </a:solidFill>
              <a:effectLst/>
              <a:latin typeface="Consolas" panose="020B0609020204030204" pitchFamily="49" charset="0"/>
            </a:endParaRPr>
          </a:p>
          <a:p>
            <a:pPr algn="just"/>
            <a:endParaRPr lang="en-US" sz="1200" dirty="0">
              <a:latin typeface="Arial" panose="020B0604020202020204" pitchFamily="34" charset="0"/>
              <a:cs typeface="Arial" panose="020B0604020202020204" pitchFamily="34" charset="0"/>
            </a:endParaRPr>
          </a:p>
          <a:p>
            <a:r>
              <a:rPr lang="es-ES" sz="1200" b="0" dirty="0">
                <a:solidFill>
                  <a:srgbClr val="9CDCFE"/>
                </a:solidFill>
                <a:effectLst/>
                <a:latin typeface="Consolas" panose="020B0609020204030204" pitchFamily="49" charset="0"/>
              </a:rPr>
              <a:t>ng</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neff0</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l0</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neffa</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neffb</a:t>
            </a:r>
            <a:r>
              <a:rPr lang="es-ES" sz="1200" b="0" dirty="0">
                <a:solidFill>
                  <a:srgbClr val="CCCCCC"/>
                </a:solidFill>
                <a:effectLst/>
                <a:latin typeface="Consolas" panose="020B0609020204030204" pitchFamily="49" charset="0"/>
              </a:rPr>
              <a:t>)</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 </a:t>
            </a:r>
            <a:r>
              <a:rPr lang="es-ES" sz="1200" b="0" dirty="0">
                <a:solidFill>
                  <a:srgbClr val="9CDCFE"/>
                </a:solidFill>
                <a:effectLst/>
                <a:latin typeface="Consolas" panose="020B0609020204030204" pitchFamily="49" charset="0"/>
              </a:rPr>
              <a:t>la</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lb</a:t>
            </a:r>
            <a:r>
              <a:rPr lang="es-ES" sz="1200" b="0" dirty="0">
                <a:solidFill>
                  <a:srgbClr val="CCCCCC"/>
                </a:solidFill>
                <a:effectLst/>
                <a:latin typeface="Consolas" panose="020B0609020204030204" pitchFamily="49" charset="0"/>
              </a:rPr>
              <a:t>) </a:t>
            </a:r>
          </a:p>
          <a:p>
            <a:r>
              <a:rPr lang="es-ES" sz="1200" b="0" dirty="0">
                <a:solidFill>
                  <a:srgbClr val="4FC1FF"/>
                </a:solidFill>
                <a:effectLst/>
                <a:latin typeface="Consolas" panose="020B0609020204030204" pitchFamily="49" charset="0"/>
              </a:rPr>
              <a:t>FSR</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B5CEA8"/>
                </a:solidFill>
                <a:effectLst/>
                <a:latin typeface="Consolas" panose="020B0609020204030204" pitchFamily="49" charset="0"/>
              </a:rPr>
              <a:t>0.04</a:t>
            </a:r>
            <a:r>
              <a:rPr lang="es-ES" sz="1200" b="0" dirty="0">
                <a:solidFill>
                  <a:srgbClr val="CCCCCC"/>
                </a:solidFill>
                <a:effectLst/>
                <a:latin typeface="Consolas" panose="020B0609020204030204" pitchFamily="49" charset="0"/>
              </a:rPr>
              <a:t>  </a:t>
            </a:r>
            <a:r>
              <a:rPr lang="es-ES" sz="1200" b="0" dirty="0">
                <a:solidFill>
                  <a:srgbClr val="6A9955"/>
                </a:solidFill>
                <a:effectLst/>
                <a:latin typeface="Consolas" panose="020B0609020204030204" pitchFamily="49" charset="0"/>
              </a:rPr>
              <a:t># </a:t>
            </a:r>
            <a:r>
              <a:rPr lang="es-ES" sz="1200" b="0" dirty="0" err="1">
                <a:solidFill>
                  <a:srgbClr val="6A9955"/>
                </a:solidFill>
                <a:effectLst/>
                <a:latin typeface="Consolas" panose="020B0609020204030204" pitchFamily="49" charset="0"/>
              </a:rPr>
              <a:t>um</a:t>
            </a:r>
            <a:endParaRPr lang="es-ES" sz="1200" b="0" dirty="0">
              <a:solidFill>
                <a:srgbClr val="CCCCCC"/>
              </a:solidFill>
              <a:effectLst/>
              <a:latin typeface="Consolas" panose="020B0609020204030204" pitchFamily="49" charset="0"/>
            </a:endParaRPr>
          </a:p>
          <a:p>
            <a:br>
              <a:rPr lang="es-ES" sz="1200" b="0" dirty="0">
                <a:solidFill>
                  <a:srgbClr val="CCCCCC"/>
                </a:solidFill>
                <a:effectLst/>
                <a:latin typeface="Consolas" panose="020B0609020204030204" pitchFamily="49" charset="0"/>
              </a:rPr>
            </a:br>
            <a:r>
              <a:rPr lang="es-ES" sz="1200" b="0" dirty="0" err="1">
                <a:solidFill>
                  <a:srgbClr val="9CDCFE"/>
                </a:solidFill>
                <a:effectLst/>
                <a:latin typeface="Consolas" panose="020B0609020204030204" pitchFamily="49" charset="0"/>
              </a:rPr>
              <a:t>variacion_l</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(l0)</a:t>
            </a:r>
            <a:r>
              <a:rPr lang="es-ES" sz="1200" b="0" dirty="0">
                <a:solidFill>
                  <a:srgbClr val="D4D4D4"/>
                </a:solidFill>
                <a:effectLst/>
                <a:latin typeface="Consolas" panose="020B0609020204030204" pitchFamily="49" charset="0"/>
              </a:rPr>
              <a:t>**</a:t>
            </a:r>
            <a:r>
              <a:rPr lang="es-ES" sz="1200" b="0" dirty="0">
                <a:solidFill>
                  <a:srgbClr val="B5CEA8"/>
                </a:solidFill>
                <a:effectLst/>
                <a:latin typeface="Consolas" panose="020B0609020204030204" pitchFamily="49" charset="0"/>
              </a:rPr>
              <a:t>2</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ng</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4FC1FF"/>
                </a:solidFill>
                <a:effectLst/>
                <a:latin typeface="Consolas" panose="020B0609020204030204" pitchFamily="49" charset="0"/>
              </a:rPr>
              <a:t>FSR</a:t>
            </a:r>
            <a:r>
              <a:rPr lang="es-ES" sz="1200" b="0" dirty="0">
                <a:solidFill>
                  <a:srgbClr val="CCCCCC"/>
                </a:solidFill>
                <a:effectLst/>
                <a:latin typeface="Consolas" panose="020B0609020204030204" pitchFamily="49" charset="0"/>
              </a:rPr>
              <a:t>)</a:t>
            </a: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8B6812ED-C19E-4322-B404-9DF3D2B1F072}"/>
              </a:ext>
            </a:extLst>
          </p:cNvPr>
          <p:cNvPicPr>
            <a:picLocks noChangeAspect="1"/>
          </p:cNvPicPr>
          <p:nvPr/>
        </p:nvPicPr>
        <p:blipFill>
          <a:blip r:embed="rId7"/>
          <a:stretch>
            <a:fillRect/>
          </a:stretch>
        </p:blipFill>
        <p:spPr>
          <a:xfrm>
            <a:off x="4800600" y="5885754"/>
            <a:ext cx="5601482" cy="228632"/>
          </a:xfrm>
          <a:prstGeom prst="rect">
            <a:avLst/>
          </a:prstGeom>
        </p:spPr>
      </p:pic>
      <p:pic>
        <p:nvPicPr>
          <p:cNvPr id="8" name="Imagen 7">
            <a:extLst>
              <a:ext uri="{FF2B5EF4-FFF2-40B4-BE49-F238E27FC236}">
                <a16:creationId xmlns:a16="http://schemas.microsoft.com/office/drawing/2014/main" id="{5F8CA90C-DF89-4163-BFFC-701458D81376}"/>
              </a:ext>
            </a:extLst>
          </p:cNvPr>
          <p:cNvPicPr>
            <a:picLocks noChangeAspect="1"/>
          </p:cNvPicPr>
          <p:nvPr/>
        </p:nvPicPr>
        <p:blipFill>
          <a:blip r:embed="rId8"/>
          <a:stretch>
            <a:fillRect/>
          </a:stretch>
        </p:blipFill>
        <p:spPr>
          <a:xfrm>
            <a:off x="800530" y="3068948"/>
            <a:ext cx="3499575" cy="2808301"/>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sz="1400" b="0" dirty="0">
              <a:effectLst/>
              <a:latin typeface="Courier New" panose="02070309020205020404" pitchFamily="49" charset="0"/>
            </a:endParaRPr>
          </a:p>
          <a:p>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r>
              <a:rPr lang="es-ES" sz="1400" dirty="0">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r>
              <a:rPr lang="es-ES" sz="1400" dirty="0">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5045006" y="2743200"/>
            <a:ext cx="6304407" cy="2862322"/>
          </a:xfrm>
          <a:prstGeom prst="rect">
            <a:avLst/>
          </a:prstGeom>
          <a:solidFill>
            <a:schemeClr val="tx1">
              <a:lumMod val="65000"/>
              <a:lumOff val="3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r>
              <a:rPr lang="es-ES" sz="1200" b="0" dirty="0" err="1">
                <a:solidFill>
                  <a:srgbClr val="9CDCFE"/>
                </a:solidFill>
                <a:effectLst/>
                <a:latin typeface="Consolas" panose="020B0609020204030204" pitchFamily="49" charset="0"/>
              </a:rPr>
              <a:t>mzi_test</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mzi</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wl</a:t>
            </a:r>
            <a:r>
              <a:rPr lang="es-ES" sz="1200" b="0" dirty="0">
                <a:solidFill>
                  <a:srgbClr val="D4D4D4"/>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wvl</a:t>
            </a:r>
            <a:r>
              <a:rPr lang="es-ES" sz="1200" b="0" dirty="0">
                <a:solidFill>
                  <a:srgbClr val="CCCCCC"/>
                </a:solidFill>
                <a:effectLst/>
                <a:latin typeface="Consolas" panose="020B0609020204030204" pitchFamily="49" charset="0"/>
              </a:rPr>
              <a:t>,</a:t>
            </a:r>
          </a:p>
          <a:p>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coup_a</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coupling</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K_a</a:t>
            </a:r>
            <a:r>
              <a:rPr lang="es-ES" sz="1200" b="0" dirty="0">
                <a:solidFill>
                  <a:srgbClr val="CCCCCC"/>
                </a:solidFill>
                <a:effectLst/>
                <a:latin typeface="Consolas" panose="020B0609020204030204" pitchFamily="49" charset="0"/>
              </a:rPr>
              <a:t>},</a:t>
            </a:r>
          </a:p>
          <a:p>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wvg_u</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wl</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wvl</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neff</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neffu</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length</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a:solidFill>
                  <a:srgbClr val="9CDCFE"/>
                </a:solidFill>
                <a:effectLst/>
                <a:latin typeface="Consolas" panose="020B0609020204030204" pitchFamily="49" charset="0"/>
              </a:rPr>
              <a:t>Lu</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loss</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alphau</a:t>
            </a:r>
            <a:r>
              <a:rPr lang="es-ES" sz="1200" b="0" dirty="0">
                <a:solidFill>
                  <a:srgbClr val="CCCCCC"/>
                </a:solidFill>
                <a:effectLst/>
                <a:latin typeface="Consolas" panose="020B0609020204030204" pitchFamily="49" charset="0"/>
              </a:rPr>
              <a:t>},</a:t>
            </a:r>
          </a:p>
          <a:p>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wvg_d</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wl</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wvl</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neff</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neffd</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length</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Ld</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loss</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alphad</a:t>
            </a:r>
            <a:r>
              <a:rPr lang="es-ES" sz="1200" b="0" dirty="0">
                <a:solidFill>
                  <a:srgbClr val="CCCCCC"/>
                </a:solidFill>
                <a:effectLst/>
                <a:latin typeface="Consolas" panose="020B0609020204030204" pitchFamily="49" charset="0"/>
              </a:rPr>
              <a:t>},</a:t>
            </a:r>
          </a:p>
          <a:p>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coup_b</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a:t>
            </a:r>
            <a:r>
              <a:rPr lang="es-ES" sz="1200" b="0" dirty="0" err="1">
                <a:solidFill>
                  <a:srgbClr val="CE9178"/>
                </a:solidFill>
                <a:effectLst/>
                <a:latin typeface="Consolas" panose="020B0609020204030204" pitchFamily="49" charset="0"/>
              </a:rPr>
              <a:t>coupling</a:t>
            </a:r>
            <a:r>
              <a:rPr lang="es-ES" sz="1200" b="0" dirty="0">
                <a:solidFill>
                  <a:srgbClr val="CE9178"/>
                </a:solidFill>
                <a:effectLst/>
                <a:latin typeface="Consolas" panose="020B0609020204030204" pitchFamily="49" charset="0"/>
              </a:rPr>
              <a:t>"</a:t>
            </a:r>
            <a:r>
              <a:rPr lang="es-ES" sz="1200" b="0" dirty="0">
                <a:solidFill>
                  <a:srgbClr val="CCCCCC"/>
                </a:solidFill>
                <a:effectLst/>
                <a:latin typeface="Consolas" panose="020B0609020204030204" pitchFamily="49" charset="0"/>
              </a:rPr>
              <a:t>:</a:t>
            </a:r>
            <a:r>
              <a:rPr lang="es-ES" sz="1200" b="0" dirty="0" err="1">
                <a:solidFill>
                  <a:srgbClr val="9CDCFE"/>
                </a:solidFill>
                <a:effectLst/>
                <a:latin typeface="Consolas" panose="020B0609020204030204" pitchFamily="49" charset="0"/>
              </a:rPr>
              <a:t>K_b</a:t>
            </a:r>
            <a:r>
              <a:rPr lang="es-ES" sz="1200" b="0" dirty="0">
                <a:solidFill>
                  <a:srgbClr val="CCCCCC"/>
                </a:solidFill>
                <a:effectLst/>
                <a:latin typeface="Consolas" panose="020B0609020204030204" pitchFamily="49" charset="0"/>
              </a:rPr>
              <a:t>},</a:t>
            </a:r>
          </a:p>
          <a:p>
            <a:r>
              <a:rPr lang="es-ES" sz="1200" b="0" dirty="0">
                <a:solidFill>
                  <a:srgbClr val="CCCCCC"/>
                </a:solidFill>
                <a:effectLst/>
                <a:latin typeface="Consolas" panose="020B0609020204030204" pitchFamily="49" charset="0"/>
              </a:rPr>
              <a:t>            )</a:t>
            </a:r>
          </a:p>
          <a:p>
            <a:br>
              <a:rPr lang="es-ES" sz="1200" b="0" dirty="0">
                <a:solidFill>
                  <a:srgbClr val="CCCCCC"/>
                </a:solidFill>
                <a:effectLst/>
                <a:latin typeface="Consolas" panose="020B0609020204030204" pitchFamily="49" charset="0"/>
              </a:rPr>
            </a:br>
            <a:r>
              <a:rPr lang="es-ES" sz="1200" b="0" dirty="0">
                <a:solidFill>
                  <a:srgbClr val="9CDCFE"/>
                </a:solidFill>
                <a:effectLst/>
                <a:latin typeface="Consolas" panose="020B0609020204030204" pitchFamily="49" charset="0"/>
              </a:rPr>
              <a:t>h00</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mzi_test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"in0"</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"out0"</a:t>
            </a:r>
            <a:r>
              <a:rPr lang="es-ES" sz="1200" b="0" dirty="0">
                <a:solidFill>
                  <a:srgbClr val="CCCCCC"/>
                </a:solidFill>
                <a:effectLst/>
                <a:latin typeface="Consolas" panose="020B0609020204030204" pitchFamily="49" charset="0"/>
              </a:rPr>
              <a:t>]</a:t>
            </a:r>
          </a:p>
          <a:p>
            <a:r>
              <a:rPr lang="es-ES" sz="1200" b="0" dirty="0">
                <a:solidFill>
                  <a:srgbClr val="9CDCFE"/>
                </a:solidFill>
                <a:effectLst/>
                <a:latin typeface="Consolas" panose="020B0609020204030204" pitchFamily="49" charset="0"/>
              </a:rPr>
              <a:t>h01</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mzi_test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"in0"</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"out1"</a:t>
            </a:r>
            <a:r>
              <a:rPr lang="es-ES" sz="1200" b="0" dirty="0">
                <a:solidFill>
                  <a:srgbClr val="CCCCCC"/>
                </a:solidFill>
                <a:effectLst/>
                <a:latin typeface="Consolas" panose="020B0609020204030204" pitchFamily="49" charset="0"/>
              </a:rPr>
              <a:t>]</a:t>
            </a:r>
          </a:p>
          <a:p>
            <a:r>
              <a:rPr lang="es-ES" sz="1200" b="0" dirty="0">
                <a:solidFill>
                  <a:srgbClr val="9CDCFE"/>
                </a:solidFill>
                <a:effectLst/>
                <a:latin typeface="Consolas" panose="020B0609020204030204" pitchFamily="49" charset="0"/>
              </a:rPr>
              <a:t>h11</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mzi_test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"in1"</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"out1"</a:t>
            </a:r>
            <a:r>
              <a:rPr lang="es-ES" sz="1200" b="0" dirty="0">
                <a:solidFill>
                  <a:srgbClr val="CCCCCC"/>
                </a:solidFill>
                <a:effectLst/>
                <a:latin typeface="Consolas" panose="020B0609020204030204" pitchFamily="49" charset="0"/>
              </a:rPr>
              <a:t>]</a:t>
            </a:r>
          </a:p>
          <a:p>
            <a:r>
              <a:rPr lang="es-ES" sz="1200" b="0" dirty="0">
                <a:solidFill>
                  <a:srgbClr val="9CDCFE"/>
                </a:solidFill>
                <a:effectLst/>
                <a:latin typeface="Consolas" panose="020B0609020204030204" pitchFamily="49" charset="0"/>
              </a:rPr>
              <a:t>h10</a:t>
            </a:r>
            <a:r>
              <a:rPr lang="es-ES" sz="1200" b="0" dirty="0">
                <a:solidFill>
                  <a:srgbClr val="CCCCCC"/>
                </a:solidFill>
                <a:effectLst/>
                <a:latin typeface="Consolas" panose="020B0609020204030204" pitchFamily="49" charset="0"/>
              </a:rPr>
              <a:t> </a:t>
            </a:r>
            <a:r>
              <a:rPr lang="es-ES" sz="1200" b="0" dirty="0">
                <a:solidFill>
                  <a:srgbClr val="D4D4D4"/>
                </a:solidFill>
                <a:effectLst/>
                <a:latin typeface="Consolas" panose="020B0609020204030204" pitchFamily="49" charset="0"/>
              </a:rPr>
              <a:t>=</a:t>
            </a:r>
            <a:r>
              <a:rPr lang="es-ES" sz="1200" b="0" dirty="0">
                <a:solidFill>
                  <a:srgbClr val="CCCCCC"/>
                </a:solidFill>
                <a:effectLst/>
                <a:latin typeface="Consolas" panose="020B0609020204030204" pitchFamily="49" charset="0"/>
              </a:rPr>
              <a:t> </a:t>
            </a:r>
            <a:r>
              <a:rPr lang="es-ES" sz="1200" b="0" dirty="0" err="1">
                <a:solidFill>
                  <a:srgbClr val="9CDCFE"/>
                </a:solidFill>
                <a:effectLst/>
                <a:latin typeface="Consolas" panose="020B0609020204030204" pitchFamily="49" charset="0"/>
              </a:rPr>
              <a:t>mzi_test</a:t>
            </a:r>
            <a:r>
              <a:rPr lang="es-ES" sz="1200" b="0" dirty="0">
                <a:solidFill>
                  <a:srgbClr val="CCCCCC"/>
                </a:solidFill>
                <a:effectLst/>
                <a:latin typeface="Consolas" panose="020B0609020204030204" pitchFamily="49" charset="0"/>
              </a:rPr>
              <a:t>[</a:t>
            </a:r>
            <a:r>
              <a:rPr lang="es-ES" sz="1200" b="0" dirty="0">
                <a:solidFill>
                  <a:srgbClr val="CE9178"/>
                </a:solidFill>
                <a:effectLst/>
                <a:latin typeface="Consolas" panose="020B0609020204030204" pitchFamily="49" charset="0"/>
              </a:rPr>
              <a:t>"in1"</a:t>
            </a:r>
            <a:r>
              <a:rPr lang="es-ES" sz="1200" b="0" dirty="0">
                <a:solidFill>
                  <a:srgbClr val="CCCCCC"/>
                </a:solidFill>
                <a:effectLst/>
                <a:latin typeface="Consolas" panose="020B0609020204030204" pitchFamily="49" charset="0"/>
              </a:rPr>
              <a:t>, </a:t>
            </a:r>
            <a:r>
              <a:rPr lang="es-ES" sz="1200" b="0" dirty="0">
                <a:solidFill>
                  <a:srgbClr val="CE9178"/>
                </a:solidFill>
                <a:effectLst/>
                <a:latin typeface="Consolas" panose="020B0609020204030204" pitchFamily="49" charset="0"/>
              </a:rPr>
              <a:t>"out0"</a:t>
            </a:r>
            <a:r>
              <a:rPr lang="es-ES" sz="1200" b="0" dirty="0">
                <a:solidFill>
                  <a:srgbClr val="CCCCCC"/>
                </a:solidFill>
                <a:effectLst/>
                <a:latin typeface="Consolas" panose="020B0609020204030204" pitchFamily="49" charset="0"/>
              </a:rPr>
              <a:t>]</a:t>
            </a: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B2B72E1B-7D45-48FF-AE50-C8CD761A22C4}"/>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3AA77A3-F46B-4D50-8258-D743E7966D1F}"/>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CuadroTexto 5">
            <a:extLst>
              <a:ext uri="{FF2B5EF4-FFF2-40B4-BE49-F238E27FC236}">
                <a16:creationId xmlns:a16="http://schemas.microsoft.com/office/drawing/2014/main" id="{6E5099C5-2AF3-4AE8-A21A-F5D37D3023C3}"/>
              </a:ext>
            </a:extLst>
          </p:cNvPr>
          <p:cNvSpPr txBox="1"/>
          <p:nvPr/>
        </p:nvSpPr>
        <p:spPr>
          <a:xfrm>
            <a:off x="6781800" y="1066800"/>
            <a:ext cx="3766238" cy="1200329"/>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Al </a:t>
            </a:r>
            <a:r>
              <a:rPr lang="en-US" sz="1200" dirty="0" err="1">
                <a:latin typeface="Arial" panose="020B0604020202020204" pitchFamily="34" charset="0"/>
                <a:cs typeface="Arial" panose="020B0604020202020204" pitchFamily="34" charset="0"/>
              </a:rPr>
              <a:t>simular</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mismos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casos</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método</a:t>
            </a:r>
            <a:r>
              <a:rPr lang="en-US" sz="1200" dirty="0">
                <a:latin typeface="Arial" panose="020B0604020202020204" pitchFamily="34" charset="0"/>
                <a:cs typeface="Arial" panose="020B0604020202020204" pitchFamily="34" charset="0"/>
              </a:rPr>
              <a:t> SAX </a:t>
            </a:r>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idénticos</a:t>
            </a:r>
            <a:r>
              <a:rPr lang="en-US" sz="1200" dirty="0">
                <a:latin typeface="Arial" panose="020B0604020202020204" pitchFamily="34" charset="0"/>
                <a:cs typeface="Arial" panose="020B0604020202020204" pitchFamily="34" charset="0"/>
              </a:rPr>
              <a:t> a los que </a:t>
            </a:r>
            <a:r>
              <a:rPr lang="en-US" sz="1200" dirty="0" err="1">
                <a:latin typeface="Arial" panose="020B0604020202020204" pitchFamily="34" charset="0"/>
                <a:cs typeface="Arial" panose="020B0604020202020204" pitchFamily="34" charset="0"/>
              </a:rPr>
              <a:t>teníamos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previamente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todas</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configuraciones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pic>
        <p:nvPicPr>
          <p:cNvPr id="7" name="Imagen 6">
            <a:extLst>
              <a:ext uri="{FF2B5EF4-FFF2-40B4-BE49-F238E27FC236}">
                <a16:creationId xmlns:a16="http://schemas.microsoft.com/office/drawing/2014/main" id="{A29240BC-B381-4509-8F03-B57696D3E8A3}"/>
              </a:ext>
            </a:extLst>
          </p:cNvPr>
          <p:cNvPicPr>
            <a:picLocks noChangeAspect="1"/>
          </p:cNvPicPr>
          <p:nvPr/>
        </p:nvPicPr>
        <p:blipFill>
          <a:blip r:embed="rId2"/>
          <a:stretch>
            <a:fillRect/>
          </a:stretch>
        </p:blipFill>
        <p:spPr>
          <a:xfrm>
            <a:off x="533400" y="838199"/>
            <a:ext cx="2514600" cy="2017889"/>
          </a:xfrm>
          <a:prstGeom prst="rect">
            <a:avLst/>
          </a:prstGeom>
        </p:spPr>
      </p:pic>
      <p:sp>
        <p:nvSpPr>
          <p:cNvPr id="8" name="Título 1">
            <a:extLst>
              <a:ext uri="{FF2B5EF4-FFF2-40B4-BE49-F238E27FC236}">
                <a16:creationId xmlns:a16="http://schemas.microsoft.com/office/drawing/2014/main" id="{89D50513-4603-4170-A248-5E51BB986914}"/>
              </a:ext>
            </a:extLst>
          </p:cNvPr>
          <p:cNvSpPr txBox="1">
            <a:spLocks/>
          </p:cNvSpPr>
          <p:nvPr/>
        </p:nvSpPr>
        <p:spPr>
          <a:xfrm>
            <a:off x="533400" y="381000"/>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3.1. </a:t>
            </a:r>
            <a:r>
              <a:rPr lang="es-ES" kern="0" dirty="0" err="1"/>
              <a:t>Balanced</a:t>
            </a:r>
            <a:r>
              <a:rPr lang="es-ES" kern="0" dirty="0"/>
              <a:t> </a:t>
            </a:r>
            <a:r>
              <a:rPr lang="es-ES" kern="0" dirty="0" err="1"/>
              <a:t>configuration</a:t>
            </a:r>
            <a:r>
              <a:rPr lang="es-ES" kern="0" dirty="0"/>
              <a:t>: </a:t>
            </a:r>
          </a:p>
        </p:txBody>
      </p:sp>
      <p:sp>
        <p:nvSpPr>
          <p:cNvPr id="9" name="Título 1">
            <a:extLst>
              <a:ext uri="{FF2B5EF4-FFF2-40B4-BE49-F238E27FC236}">
                <a16:creationId xmlns:a16="http://schemas.microsoft.com/office/drawing/2014/main" id="{7DC12811-1E6C-457A-AEBA-F7118429AAFA}"/>
              </a:ext>
            </a:extLst>
          </p:cNvPr>
          <p:cNvSpPr>
            <a:spLocks noGrp="1"/>
          </p:cNvSpPr>
          <p:nvPr>
            <p:ph type="title"/>
          </p:nvPr>
        </p:nvSpPr>
        <p:spPr>
          <a:xfrm>
            <a:off x="341326" y="3083339"/>
            <a:ext cx="10991850" cy="307777"/>
          </a:xfrm>
        </p:spPr>
        <p:txBody>
          <a:bodyPr/>
          <a:lstStyle/>
          <a:p>
            <a:r>
              <a:rPr lang="es-ES" dirty="0"/>
              <a:t>3.2. </a:t>
            </a:r>
            <a:r>
              <a:rPr lang="es-ES" dirty="0" err="1"/>
              <a:t>Unbalanced</a:t>
            </a:r>
            <a:r>
              <a:rPr lang="es-ES" dirty="0"/>
              <a:t> </a:t>
            </a:r>
            <a:r>
              <a:rPr lang="es-ES" dirty="0" err="1"/>
              <a:t>configurations</a:t>
            </a:r>
            <a:r>
              <a:rPr lang="es-ES" dirty="0"/>
              <a:t>: </a:t>
            </a:r>
          </a:p>
        </p:txBody>
      </p:sp>
      <p:pic>
        <p:nvPicPr>
          <p:cNvPr id="10" name="Imagen 9">
            <a:extLst>
              <a:ext uri="{FF2B5EF4-FFF2-40B4-BE49-F238E27FC236}">
                <a16:creationId xmlns:a16="http://schemas.microsoft.com/office/drawing/2014/main" id="{02262299-8028-4DEF-8906-C60B6860B0EC}"/>
              </a:ext>
            </a:extLst>
          </p:cNvPr>
          <p:cNvPicPr>
            <a:picLocks noChangeAspect="1"/>
          </p:cNvPicPr>
          <p:nvPr/>
        </p:nvPicPr>
        <p:blipFill>
          <a:blip r:embed="rId3"/>
          <a:stretch>
            <a:fillRect/>
          </a:stretch>
        </p:blipFill>
        <p:spPr>
          <a:xfrm>
            <a:off x="450112" y="4043586"/>
            <a:ext cx="2588806" cy="2044978"/>
          </a:xfrm>
          <a:prstGeom prst="rect">
            <a:avLst/>
          </a:prstGeom>
        </p:spPr>
      </p:pic>
      <p:sp>
        <p:nvSpPr>
          <p:cNvPr id="11" name="CuadroTexto 10">
            <a:extLst>
              <a:ext uri="{FF2B5EF4-FFF2-40B4-BE49-F238E27FC236}">
                <a16:creationId xmlns:a16="http://schemas.microsoft.com/office/drawing/2014/main" id="{363D009B-430D-4637-8E5E-86E35D5EA380}"/>
              </a:ext>
            </a:extLst>
          </p:cNvPr>
          <p:cNvSpPr txBox="1"/>
          <p:nvPr/>
        </p:nvSpPr>
        <p:spPr>
          <a:xfrm>
            <a:off x="681806" y="3532488"/>
            <a:ext cx="2263953" cy="369332"/>
          </a:xfrm>
          <a:prstGeom prst="rect">
            <a:avLst/>
          </a:prstGeom>
          <a:noFill/>
        </p:spPr>
        <p:txBody>
          <a:bodyPr wrap="none" rtlCol="0">
            <a:spAutoFit/>
          </a:bodyPr>
          <a:lstStyle/>
          <a:p>
            <a:r>
              <a:rPr lang="es-ES" dirty="0"/>
              <a:t>3.2.2 </a:t>
            </a:r>
            <a:r>
              <a:rPr lang="es-ES" dirty="0" err="1"/>
              <a:t>Phase</a:t>
            </a:r>
            <a:r>
              <a:rPr lang="es-ES" dirty="0"/>
              <a:t> </a:t>
            </a:r>
            <a:r>
              <a:rPr lang="es-ES" dirty="0" err="1"/>
              <a:t>difference</a:t>
            </a:r>
            <a:endParaRPr lang="es-ES" dirty="0"/>
          </a:p>
        </p:txBody>
      </p:sp>
      <p:pic>
        <p:nvPicPr>
          <p:cNvPr id="17" name="Imagen 16">
            <a:extLst>
              <a:ext uri="{FF2B5EF4-FFF2-40B4-BE49-F238E27FC236}">
                <a16:creationId xmlns:a16="http://schemas.microsoft.com/office/drawing/2014/main" id="{9DB89415-DDAD-441E-9AD9-4C9EC6250ADE}"/>
              </a:ext>
            </a:extLst>
          </p:cNvPr>
          <p:cNvPicPr>
            <a:picLocks noChangeAspect="1"/>
          </p:cNvPicPr>
          <p:nvPr/>
        </p:nvPicPr>
        <p:blipFill>
          <a:blip r:embed="rId4"/>
          <a:stretch>
            <a:fillRect/>
          </a:stretch>
        </p:blipFill>
        <p:spPr>
          <a:xfrm>
            <a:off x="3224834" y="805387"/>
            <a:ext cx="2514600" cy="2017889"/>
          </a:xfrm>
          <a:prstGeom prst="rect">
            <a:avLst/>
          </a:prstGeom>
        </p:spPr>
      </p:pic>
      <p:pic>
        <p:nvPicPr>
          <p:cNvPr id="19" name="Imagen 18">
            <a:extLst>
              <a:ext uri="{FF2B5EF4-FFF2-40B4-BE49-F238E27FC236}">
                <a16:creationId xmlns:a16="http://schemas.microsoft.com/office/drawing/2014/main" id="{19761D00-B672-43D2-B3DF-1E579595F96F}"/>
              </a:ext>
            </a:extLst>
          </p:cNvPr>
          <p:cNvPicPr>
            <a:picLocks noChangeAspect="1"/>
          </p:cNvPicPr>
          <p:nvPr/>
        </p:nvPicPr>
        <p:blipFill>
          <a:blip r:embed="rId5"/>
          <a:stretch>
            <a:fillRect/>
          </a:stretch>
        </p:blipFill>
        <p:spPr>
          <a:xfrm>
            <a:off x="3185160" y="4034725"/>
            <a:ext cx="2652091" cy="2094968"/>
          </a:xfrm>
          <a:prstGeom prst="rect">
            <a:avLst/>
          </a:prstGeom>
        </p:spPr>
      </p:pic>
      <p:sp>
        <p:nvSpPr>
          <p:cNvPr id="20" name="CuadroTexto 19">
            <a:extLst>
              <a:ext uri="{FF2B5EF4-FFF2-40B4-BE49-F238E27FC236}">
                <a16:creationId xmlns:a16="http://schemas.microsoft.com/office/drawing/2014/main" id="{16B79607-0F2B-4B5B-88AF-510B16150143}"/>
              </a:ext>
            </a:extLst>
          </p:cNvPr>
          <p:cNvSpPr txBox="1"/>
          <p:nvPr/>
        </p:nvSpPr>
        <p:spPr>
          <a:xfrm>
            <a:off x="6664468" y="3511077"/>
            <a:ext cx="2469445" cy="369332"/>
          </a:xfrm>
          <a:prstGeom prst="rect">
            <a:avLst/>
          </a:prstGeom>
          <a:noFill/>
        </p:spPr>
        <p:txBody>
          <a:bodyPr wrap="square" rtlCol="0">
            <a:spAutoFit/>
          </a:bodyPr>
          <a:lstStyle/>
          <a:p>
            <a:r>
              <a:rPr lang="es-ES" dirty="0"/>
              <a:t>3.2.3. </a:t>
            </a:r>
            <a:r>
              <a:rPr lang="es-ES" dirty="0" err="1"/>
              <a:t>Delay</a:t>
            </a:r>
            <a:r>
              <a:rPr lang="es-ES" dirty="0"/>
              <a:t> </a:t>
            </a:r>
            <a:r>
              <a:rPr lang="es-ES" dirty="0" err="1"/>
              <a:t>imbalance</a:t>
            </a:r>
            <a:endParaRPr lang="es-ES" dirty="0"/>
          </a:p>
        </p:txBody>
      </p:sp>
      <p:pic>
        <p:nvPicPr>
          <p:cNvPr id="21" name="Imagen 20">
            <a:extLst>
              <a:ext uri="{FF2B5EF4-FFF2-40B4-BE49-F238E27FC236}">
                <a16:creationId xmlns:a16="http://schemas.microsoft.com/office/drawing/2014/main" id="{B338BD0B-E26D-4306-AA22-8073EF27E326}"/>
              </a:ext>
            </a:extLst>
          </p:cNvPr>
          <p:cNvPicPr>
            <a:picLocks noChangeAspect="1"/>
          </p:cNvPicPr>
          <p:nvPr/>
        </p:nvPicPr>
        <p:blipFill>
          <a:blip r:embed="rId6"/>
          <a:stretch>
            <a:fillRect/>
          </a:stretch>
        </p:blipFill>
        <p:spPr>
          <a:xfrm>
            <a:off x="6266936" y="4000370"/>
            <a:ext cx="2696587" cy="2163928"/>
          </a:xfrm>
          <a:prstGeom prst="rect">
            <a:avLst/>
          </a:prstGeom>
        </p:spPr>
      </p:pic>
      <p:pic>
        <p:nvPicPr>
          <p:cNvPr id="22" name="Imagen 21">
            <a:extLst>
              <a:ext uri="{FF2B5EF4-FFF2-40B4-BE49-F238E27FC236}">
                <a16:creationId xmlns:a16="http://schemas.microsoft.com/office/drawing/2014/main" id="{82FE8A97-5B78-4C64-9DEB-AB854D4A6D2D}"/>
              </a:ext>
            </a:extLst>
          </p:cNvPr>
          <p:cNvPicPr>
            <a:picLocks noChangeAspect="1"/>
          </p:cNvPicPr>
          <p:nvPr/>
        </p:nvPicPr>
        <p:blipFill>
          <a:blip r:embed="rId7"/>
          <a:stretch>
            <a:fillRect/>
          </a:stretch>
        </p:blipFill>
        <p:spPr>
          <a:xfrm>
            <a:off x="9021654" y="3983286"/>
            <a:ext cx="2674753" cy="2146407"/>
          </a:xfrm>
          <a:prstGeom prst="rect">
            <a:avLst/>
          </a:prstGeom>
        </p:spPr>
      </p:pic>
    </p:spTree>
    <p:extLst>
      <p:ext uri="{BB962C8B-B14F-4D97-AF65-F5344CB8AC3E}">
        <p14:creationId xmlns:p14="http://schemas.microsoft.com/office/powerpoint/2010/main" val="14148250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85800" y="4724400"/>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45F26DE0-DD7D-472D-ACD1-B85D9BAB2F8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3440B72E-4B1E-4F32-B53E-B3ECD2184D3F}"/>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11" name="Título 10">
            <a:extLst>
              <a:ext uri="{FF2B5EF4-FFF2-40B4-BE49-F238E27FC236}">
                <a16:creationId xmlns:a16="http://schemas.microsoft.com/office/drawing/2014/main" id="{96CC4C8E-D9F7-4082-95B3-A5C8204A9F39}"/>
              </a:ext>
            </a:extLst>
          </p:cNvPr>
          <p:cNvSpPr>
            <a:spLocks noGrp="1"/>
          </p:cNvSpPr>
          <p:nvPr>
            <p:ph type="title"/>
          </p:nvPr>
        </p:nvSpPr>
        <p:spPr>
          <a:xfrm>
            <a:off x="592667" y="685800"/>
            <a:ext cx="10991850" cy="923330"/>
          </a:xfrm>
        </p:spPr>
        <p:txBody>
          <a:bodyPr/>
          <a:lstStyle/>
          <a:p>
            <a:r>
              <a:rPr lang="en-US" b="1" dirty="0"/>
              <a:t>Assessment 4</a:t>
            </a:r>
            <a:r>
              <a:rPr lang="en-US" dirty="0"/>
              <a:t>. </a:t>
            </a:r>
            <a:r>
              <a:rPr lang="en-US" b="0" dirty="0"/>
              <a:t>Design an MZI for filtering at a specific wavelength. Calculate and adjust the arm lengths to configure the MZI to have a maximum transmission at 1550 nm.</a:t>
            </a:r>
            <a:br>
              <a:rPr lang="en-US" dirty="0"/>
            </a:br>
            <a:endParaRPr lang="es-ES" dirty="0"/>
          </a:p>
        </p:txBody>
      </p:sp>
      <p:pic>
        <p:nvPicPr>
          <p:cNvPr id="15" name="Imagen 14">
            <a:extLst>
              <a:ext uri="{FF2B5EF4-FFF2-40B4-BE49-F238E27FC236}">
                <a16:creationId xmlns:a16="http://schemas.microsoft.com/office/drawing/2014/main" id="{BA54FDD2-21DF-4A6B-9DB0-C01ADE704A0A}"/>
              </a:ext>
            </a:extLst>
          </p:cNvPr>
          <p:cNvPicPr>
            <a:picLocks noChangeAspect="1"/>
          </p:cNvPicPr>
          <p:nvPr/>
        </p:nvPicPr>
        <p:blipFill>
          <a:blip r:embed="rId2"/>
          <a:stretch>
            <a:fillRect/>
          </a:stretch>
        </p:blipFill>
        <p:spPr>
          <a:xfrm>
            <a:off x="3810000" y="1667116"/>
            <a:ext cx="4706007" cy="485843"/>
          </a:xfrm>
          <a:prstGeom prst="rect">
            <a:avLst/>
          </a:prstGeom>
        </p:spPr>
      </p:pic>
      <p:pic>
        <p:nvPicPr>
          <p:cNvPr id="17" name="Imagen 16">
            <a:extLst>
              <a:ext uri="{FF2B5EF4-FFF2-40B4-BE49-F238E27FC236}">
                <a16:creationId xmlns:a16="http://schemas.microsoft.com/office/drawing/2014/main" id="{F325C41D-971D-459E-B563-C948717C07FA}"/>
              </a:ext>
            </a:extLst>
          </p:cNvPr>
          <p:cNvPicPr>
            <a:picLocks noChangeAspect="1"/>
          </p:cNvPicPr>
          <p:nvPr/>
        </p:nvPicPr>
        <p:blipFill>
          <a:blip r:embed="rId3"/>
          <a:stretch>
            <a:fillRect/>
          </a:stretch>
        </p:blipFill>
        <p:spPr>
          <a:xfrm>
            <a:off x="3962400" y="2362200"/>
            <a:ext cx="4651073" cy="3732342"/>
          </a:xfrm>
          <a:prstGeom prst="rect">
            <a:avLst/>
          </a:prstGeom>
        </p:spPr>
      </p:pic>
    </p:spTree>
    <p:extLst>
      <p:ext uri="{BB962C8B-B14F-4D97-AF65-F5344CB8AC3E}">
        <p14:creationId xmlns:p14="http://schemas.microsoft.com/office/powerpoint/2010/main" val="3345206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3B0508F-5AB9-411F-A74B-C851E6DCB5C3}"/>
              </a:ext>
            </a:extLst>
          </p:cNvPr>
          <p:cNvSpPr>
            <a:spLocks noGrp="1"/>
          </p:cNvSpPr>
          <p:nvPr>
            <p:ph type="title"/>
          </p:nvPr>
        </p:nvSpPr>
        <p:spPr>
          <a:xfrm>
            <a:off x="600075" y="457200"/>
            <a:ext cx="10991850" cy="1231106"/>
          </a:xfrm>
        </p:spPr>
        <p:txBody>
          <a:bodyPr/>
          <a:lstStyle/>
          <a:p>
            <a:r>
              <a:rPr lang="en-US" b="1" dirty="0"/>
              <a:t>Assessment 5.</a:t>
            </a:r>
            <a:r>
              <a:rPr lang="en-US" b="0" dirty="0"/>
              <a:t> Let's see how the response of the MZI varies with the effective index. Vary the effective index of one of the arms and analyze how the spectrum shifts. To do this, you can use the data provided in the .txt files entitled ‘</a:t>
            </a:r>
            <a:r>
              <a:rPr lang="en-US" b="0" dirty="0" err="1"/>
              <a:t>SiN</a:t>
            </a:r>
            <a:r>
              <a:rPr lang="en-US" b="0" dirty="0"/>
              <a:t>’. Can you give an example of an application where this configuration is used?</a:t>
            </a:r>
            <a:br>
              <a:rPr lang="en-US" dirty="0"/>
            </a:br>
            <a:endParaRPr lang="es-ES" dirty="0"/>
          </a:p>
        </p:txBody>
      </p:sp>
      <p:sp>
        <p:nvSpPr>
          <p:cNvPr id="4" name="Marcador de pie de página 3">
            <a:extLst>
              <a:ext uri="{FF2B5EF4-FFF2-40B4-BE49-F238E27FC236}">
                <a16:creationId xmlns:a16="http://schemas.microsoft.com/office/drawing/2014/main" id="{3A0B5358-C841-4729-BF0A-2477A0E169F6}"/>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B433985-F4C5-4FED-9BC7-B20EEAC99C3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7" name="Imagen 6">
            <a:extLst>
              <a:ext uri="{FF2B5EF4-FFF2-40B4-BE49-F238E27FC236}">
                <a16:creationId xmlns:a16="http://schemas.microsoft.com/office/drawing/2014/main" id="{7697C202-56FF-48CC-B291-90EC35B95450}"/>
              </a:ext>
            </a:extLst>
          </p:cNvPr>
          <p:cNvPicPr>
            <a:picLocks noChangeAspect="1"/>
          </p:cNvPicPr>
          <p:nvPr/>
        </p:nvPicPr>
        <p:blipFill>
          <a:blip r:embed="rId2"/>
          <a:stretch>
            <a:fillRect/>
          </a:stretch>
        </p:blipFill>
        <p:spPr>
          <a:xfrm>
            <a:off x="3505200" y="1905000"/>
            <a:ext cx="5181600" cy="4093105"/>
          </a:xfrm>
          <a:prstGeom prst="rect">
            <a:avLst/>
          </a:prstGeom>
        </p:spPr>
      </p:pic>
    </p:spTree>
    <p:extLst>
      <p:ext uri="{BB962C8B-B14F-4D97-AF65-F5344CB8AC3E}">
        <p14:creationId xmlns:p14="http://schemas.microsoft.com/office/powerpoint/2010/main" val="18287901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1232</TotalTime>
  <Words>1301</Words>
  <Application>Microsoft Office PowerPoint</Application>
  <PresentationFormat>Panorámica</PresentationFormat>
  <Paragraphs>132</Paragraphs>
  <Slides>12</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12</vt:i4>
      </vt:variant>
    </vt:vector>
  </HeadingPairs>
  <TitlesOfParts>
    <vt:vector size="20" baseType="lpstr">
      <vt:lpstr>Aptos</vt:lpstr>
      <vt:lpstr>Arial</vt:lpstr>
      <vt:lpstr>Calibri</vt:lpstr>
      <vt:lpstr>Cambria Math</vt:lpstr>
      <vt:lpstr>Consolas</vt:lpstr>
      <vt:lpstr>Courier New</vt:lpstr>
      <vt:lpstr>Lucida Sans</vt:lpstr>
      <vt:lpstr>Office Theme</vt:lpstr>
      <vt:lpstr>Presentación de PowerPoint</vt:lpstr>
      <vt:lpstr>Instructions General</vt:lpstr>
      <vt:lpstr>ASSESSMENT #1 – Recap from theory – MZI configurations </vt:lpstr>
      <vt:lpstr>2. Unbalanced configurations: </vt:lpstr>
      <vt:lpstr>Presentación de PowerPoint</vt:lpstr>
      <vt:lpstr>ASSESSMENT #2 – Recap from theory – Calculation of ΔL  </vt:lpstr>
      <vt:lpstr>ASSESSMENT #3 – SAX implementation  </vt:lpstr>
      <vt:lpstr>3.2. Unbalanced configurations: </vt:lpstr>
      <vt:lpstr>Extra assessments </vt:lpstr>
      <vt:lpstr>Assessment 4. Design an MZI for filtering at a specific wavelength. Calculate and adjust the arm lengths to configure the MZI to have a maximum transmission at 1550 nm. </vt:lpstr>
      <vt:lpstr>Assessment 5. Let's see how the response of the MZI varies with the effective index. Vary the effective index of one of the arms and analyze how the spectrum shifts. To do this, you can use the data provided in the .txt files entitled ‘SiN’. Can you give an example of an application where this configuration is used?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41</cp:revision>
  <dcterms:created xsi:type="dcterms:W3CDTF">2025-01-27T02:46:57Z</dcterms:created>
  <dcterms:modified xsi:type="dcterms:W3CDTF">2026-03-23T11:41:07Z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